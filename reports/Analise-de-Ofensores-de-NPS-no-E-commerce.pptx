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8" r:id="rId3"/>
    <p:sldId id="257" r:id="rId4"/>
    <p:sldId id="258" r:id="rId5"/>
    <p:sldId id="259" r:id="rId6"/>
    <p:sldId id="260" r:id="rId7"/>
    <p:sldId id="266" r:id="rId8"/>
    <p:sldId id="261" r:id="rId9"/>
    <p:sldId id="265" r:id="rId10"/>
    <p:sldId id="263" r:id="rId11"/>
    <p:sldId id="264" r:id="rId12"/>
  </p:sldIdLst>
  <p:sldSz cx="12192000" cy="6858000"/>
  <p:notesSz cx="6858000" cy="12192000"/>
  <p:embeddedFontLst>
    <p:embeddedFont>
      <p:font typeface="Noto Sans" panose="020B0502040504020204" pitchFamily="34" charset="0"/>
      <p:regular r:id="rId14"/>
    </p:embeddedFont>
    <p:embeddedFont>
      <p:font typeface="Noto Sans Bold" panose="020B0802040504020204" charset="0"/>
      <p:regular r:id="rId15"/>
    </p:embeddedFont>
    <p:embeddedFont>
      <p:font typeface="Sora Medium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72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708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9148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40FE7-AF6D-3A03-C318-33947F55E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298B7B-C67E-945D-7A11-29D625D274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E04561-38A1-8862-8CDF-42BE737FF0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EEAC76-CB1D-BD4C-4DB4-738D3F1BF2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8240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872978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Análise de Ofensores de NPS no E-commerce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3720405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das variáveis operacionais e logísticas na satisfação do cliente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64245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Desafio: Crescimento vs. Experiência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4" y="1593759"/>
            <a:ext cx="10868745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Contexto</a:t>
            </a: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 e </a:t>
            </a:r>
            <a:r>
              <a:rPr lang="en-US" sz="185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Problema</a:t>
            </a: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de </a:t>
            </a:r>
            <a:r>
              <a:rPr lang="en-US" sz="185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Negócio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4" y="1944252"/>
            <a:ext cx="10868745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Crescimento das vendas gerou alta variabilidade nas notas de NPS.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Aumento de clientes detratores devido a atritos logísticos e de atendimento.</a:t>
            </a:r>
          </a:p>
          <a:p>
            <a:pPr marL="171450" indent="-171450" algn="l">
              <a:lnSpc>
                <a:spcPct val="130000"/>
              </a:lnSpc>
              <a:buFont typeface="Arial" panose="020B0604020202020204" pitchFamily="34" charset="0"/>
              <a:buChar char="•"/>
            </a:pPr>
            <a:r>
              <a:rPr lang="pt-BR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Nosso objetivo: Sair do modelo reativo e passar a prevenir a insatisfação.</a:t>
            </a:r>
          </a:p>
        </p:txBody>
      </p:sp>
      <p:sp>
        <p:nvSpPr>
          <p:cNvPr id="5" name="Shape 3"/>
          <p:cNvSpPr/>
          <p:nvPr/>
        </p:nvSpPr>
        <p:spPr>
          <a:xfrm>
            <a:off x="661321" y="3167812"/>
            <a:ext cx="10868745" cy="1247080"/>
          </a:xfrm>
          <a:prstGeom prst="roundRect">
            <a:avLst>
              <a:gd name="adj" fmla="val 1890"/>
            </a:avLst>
          </a:prstGeom>
          <a:solidFill>
            <a:srgbClr val="CCDC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0" y="3368531"/>
            <a:ext cx="245461" cy="1963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20901" y="3356228"/>
            <a:ext cx="10152106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Pergunta Norteadora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220901" y="3751020"/>
            <a:ext cx="10152106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"Quais fatores operacionais realmente influenciam a satisfação do cliente e como a empresa pode agir de forma proativa para melhorar a experiência antes mesmo da aplicação da pesquisa de NPS?"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1474" y="4957758"/>
            <a:ext cx="10868745" cy="2944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Por que o NPS é importante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661474" y="5319532"/>
            <a:ext cx="10868745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200" dirty="0"/>
              <a:t>É o termômetro da lealdade: a rentabilidade e a recompra do negócio dependem de clientes satisfeitos.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78879" y="554197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Como estão nossas notas de NPS?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6253502" y="1239342"/>
            <a:ext cx="5213616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Diagnóstico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253502" y="1651863"/>
            <a:ext cx="5213616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distribuição atual das notas revela um cenário preocupante: a maior concentração está na faixa intermediária, entre 4 e 6, indicando uma base de clientes predominantemente neutra ou insatisfeita.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2521545"/>
            <a:ext cx="5283068" cy="90745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75747" y="2658268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Concentração Crítica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475747" y="2945010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Faixa de notas 4 a 6 domina o volume de respostas, sinalizando experiências medianas com atritos não resolvidos.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3521967"/>
            <a:ext cx="5283068" cy="90745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75747" y="3658691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Detratores em Excesso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475747" y="3945433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Volume significativo de notas baixas (0 a 6) e baixa proporção de promotores (notas 9 e 10) comprimem o NPS final.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3502" y="4522390"/>
            <a:ext cx="5283068" cy="90745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475747" y="4659113"/>
            <a:ext cx="4958829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Atritos Operacionais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6475747" y="4945856"/>
            <a:ext cx="495882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experiência média do cliente carrega atritos operacionais graves que precisam ser mapeados e resolvidos com urgência.</a:t>
            </a:r>
            <a:endParaRPr lang="en-US" sz="950" dirty="0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2BC6A616-DC05-8001-E924-5AE23C290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371" y="1692621"/>
            <a:ext cx="5659128" cy="36586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1876"/>
            <a:ext cx="10868745" cy="490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que realmente afeta a satisfação do cliente?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293883" y="1425873"/>
            <a:ext cx="5242687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Correlações com o NPS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93883" y="1839317"/>
            <a:ext cx="2546683" cy="1689993"/>
          </a:xfrm>
          <a:prstGeom prst="roundRect">
            <a:avLst>
              <a:gd name="adj" fmla="val 1395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450943" y="1996380"/>
            <a:ext cx="2232564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Atraso na Entrega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50943" y="2391172"/>
            <a:ext cx="223256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–0,60</a:t>
            </a: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de correlação negativa. Principal ofensor identificado na análise.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8989788" y="1839317"/>
            <a:ext cx="2546782" cy="1689993"/>
          </a:xfrm>
          <a:prstGeom prst="roundRect">
            <a:avLst>
              <a:gd name="adj" fmla="val 1395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9146847" y="1996380"/>
            <a:ext cx="2232664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Volume de Contatos SAC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6847" y="2636738"/>
            <a:ext cx="2232664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Impacto moderado. Quanto mais o cliente precisa acionar o suporte, pior a nota.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93883" y="3678535"/>
            <a:ext cx="5242687" cy="1199257"/>
          </a:xfrm>
          <a:prstGeom prst="roundRect">
            <a:avLst>
              <a:gd name="adj" fmla="val 1965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6450943" y="3835598"/>
            <a:ext cx="4928568" cy="245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Tempo de </a:t>
            </a:r>
            <a:r>
              <a:rPr lang="en-US" sz="1500" dirty="0" err="1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Resolução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50943" y="4230390"/>
            <a:ext cx="4928568" cy="490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Prejudica a nota, mas em escala menor que o atraso logístico direto.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93883" y="5045670"/>
            <a:ext cx="5242687" cy="1082576"/>
          </a:xfrm>
          <a:prstGeom prst="roundRect">
            <a:avLst>
              <a:gd name="adj" fmla="val 2177"/>
            </a:avLst>
          </a:prstGeom>
          <a:solidFill>
            <a:srgbClr val="CCDC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943" y="5274370"/>
            <a:ext cx="196349" cy="157063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804351" y="5219204"/>
            <a:ext cx="4575160" cy="7355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Conclusão estratégica:</a:t>
            </a:r>
            <a:r>
              <a:rPr lang="en-US" sz="12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 logística é a principal alavanca. Resolver problemas de entrega trará o maior retorno sobre a satisfação geral.</a:t>
            </a:r>
            <a:endParaRPr lang="en-US" sz="1200" dirty="0"/>
          </a:p>
        </p:txBody>
      </p:sp>
      <p:pic>
        <p:nvPicPr>
          <p:cNvPr id="18" name="Imagem 17">
            <a:extLst>
              <a:ext uri="{FF2B5EF4-FFF2-40B4-BE49-F238E27FC236}">
                <a16:creationId xmlns:a16="http://schemas.microsoft.com/office/drawing/2014/main" id="{BDB9F7B6-A5B1-AE4B-5575-60181D0B47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992" y="1408311"/>
            <a:ext cx="5414179" cy="46243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79822"/>
            <a:ext cx="10868745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Efeito Dominó do Atraso na Entrega</a:t>
            </a:r>
            <a:endParaRPr lang="en-US" sz="2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8227" y="1223863"/>
            <a:ext cx="5434373" cy="49609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78227" y="1812925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Sem Atraso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6378227" y="2062460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Mediana do NPS mantida na zona neutra/promotora. Cliente satisfeito com a experiência.</a:t>
            </a:r>
            <a:endParaRPr lang="en-US" sz="9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227" y="2448421"/>
            <a:ext cx="5434373" cy="49609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378227" y="3037483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1º Dia de Atraso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6378227" y="3287018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Queda acentuada e imediata na satisfação. A tolerância do cliente ao atraso é praticamente nula.</a:t>
            </a:r>
            <a:endParaRPr lang="en-US" sz="9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227" y="3882330"/>
            <a:ext cx="5434373" cy="49609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378227" y="4471392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 a 3 Dias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6378227" y="4720927"/>
            <a:ext cx="5186332" cy="17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Cliente migra para a zona de detratores. Insatisfação consolidada e difícil de reverter.</a:t>
            </a:r>
            <a:endParaRPr lang="en-US" sz="9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227" y="5068193"/>
            <a:ext cx="5434373" cy="49609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378227" y="5657255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4+ Dias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6378227" y="5906790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Detrator garantido. Cada dia adicional de espera gera penalização severa e irreversível na avaliação.</a:t>
            </a:r>
            <a:endParaRPr lang="en-US" sz="950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10F055E8-4BB1-993F-2436-739CAC311CA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1601" y="1719957"/>
            <a:ext cx="5705832" cy="3727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8211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Peso do Tempo de Resolução no SAC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273643" y="1320006"/>
            <a:ext cx="5262927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Janela de Recuperação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73643" y="1659037"/>
            <a:ext cx="5262927" cy="624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Quando um atrito logístico já ocorreu, o pós-venda é a última linha de defesa da satisfação. Os dados mostram uma tendência clara: quanto mais tempo o cliente espera por uma solução, mais profunda é a queda no NPS.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6273643" y="2417564"/>
            <a:ext cx="316301" cy="31630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6326376" y="2443956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6709401" y="2465884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Resolução no mesmo dia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709401" y="2804914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Mantém o cliente na zona neutra, contendo o dano causado pelo atrito inicial.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73643" y="3459956"/>
            <a:ext cx="316301" cy="31630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6326376" y="3486348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6709401" y="3508276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 a 3 dias de espera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709401" y="3847306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nota média cai para a zona de detratores. A insatisfação com o atendimento soma-se ao problema original.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73643" y="4502348"/>
            <a:ext cx="316301" cy="316309"/>
          </a:xfrm>
          <a:prstGeom prst="roundRect">
            <a:avLst>
              <a:gd name="adj" fmla="val 6667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/>
          <p:nvPr/>
        </p:nvSpPr>
        <p:spPr>
          <a:xfrm>
            <a:off x="6326376" y="4528741"/>
            <a:ext cx="210835" cy="2635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6709401" y="4550668"/>
            <a:ext cx="4827169" cy="219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Acima de 3 dias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6709401" y="4889698"/>
            <a:ext cx="4827169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Dano duplo: o cliente penaliza tanto o problema logístico quanto a ineficiência do suporte.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73643" y="5440164"/>
            <a:ext cx="5262927" cy="701278"/>
          </a:xfrm>
          <a:prstGeom prst="roundRect">
            <a:avLst>
              <a:gd name="adj" fmla="val 3007"/>
            </a:avLst>
          </a:prstGeom>
          <a:solidFill>
            <a:srgbClr val="CCDC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133" y="5630565"/>
            <a:ext cx="175712" cy="14049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30336" y="5582741"/>
            <a:ext cx="4665744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Insight:</a:t>
            </a:r>
            <a:r>
              <a:rPr lang="en-US" sz="11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Agilidade no pós-venda é fundamental para conter a insatisfação quando um atrito logístico já ocorreu.</a:t>
            </a:r>
            <a:endParaRPr lang="en-US" sz="1100" dirty="0"/>
          </a:p>
        </p:txBody>
      </p:sp>
      <p:pic>
        <p:nvPicPr>
          <p:cNvPr id="22" name="Imagem 21">
            <a:extLst>
              <a:ext uri="{FF2B5EF4-FFF2-40B4-BE49-F238E27FC236}">
                <a16:creationId xmlns:a16="http://schemas.microsoft.com/office/drawing/2014/main" id="{CBB52D23-88F5-0DBC-BF0F-403C234A2A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9322" y="1829264"/>
            <a:ext cx="5744980" cy="375347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E05A81-9E95-7175-FF52-E8AC73639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EA44975-C29E-DBBD-15C5-079C9367E7A5}"/>
              </a:ext>
            </a:extLst>
          </p:cNvPr>
          <p:cNvSpPr/>
          <p:nvPr/>
        </p:nvSpPr>
        <p:spPr>
          <a:xfrm>
            <a:off x="661475" y="582116"/>
            <a:ext cx="1086874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pt-BR" sz="2800" dirty="0"/>
              <a:t>O Desgaste do Cliente: Volume de Contatos no SAC</a:t>
            </a:r>
            <a:endParaRPr lang="en-US" sz="275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D18F525-70F1-8D48-5E27-71345F5BE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991" y="1676423"/>
            <a:ext cx="5607577" cy="3663705"/>
          </a:xfrm>
          <a:prstGeom prst="rect">
            <a:avLst/>
          </a:prstGeom>
        </p:spPr>
      </p:pic>
      <p:pic>
        <p:nvPicPr>
          <p:cNvPr id="47" name="Image 1" descr="preencoded.png">
            <a:extLst>
              <a:ext uri="{FF2B5EF4-FFF2-40B4-BE49-F238E27FC236}">
                <a16:creationId xmlns:a16="http://schemas.microsoft.com/office/drawing/2014/main" id="{7A68BFE7-ED7F-DE28-05AF-5AF1104703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8227" y="1223863"/>
            <a:ext cx="5434373" cy="496094"/>
          </a:xfrm>
          <a:prstGeom prst="rect">
            <a:avLst/>
          </a:prstGeom>
        </p:spPr>
      </p:pic>
      <p:sp>
        <p:nvSpPr>
          <p:cNvPr id="49" name="Text 1">
            <a:extLst>
              <a:ext uri="{FF2B5EF4-FFF2-40B4-BE49-F238E27FC236}">
                <a16:creationId xmlns:a16="http://schemas.microsoft.com/office/drawing/2014/main" id="{AF00B8B2-3D0B-109A-4955-4997B4906153}"/>
              </a:ext>
            </a:extLst>
          </p:cNvPr>
          <p:cNvSpPr/>
          <p:nvPr/>
        </p:nvSpPr>
        <p:spPr>
          <a:xfrm>
            <a:off x="6378227" y="1812925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0 a  1  </a:t>
            </a:r>
            <a:r>
              <a:rPr lang="en-US" sz="120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Contato</a:t>
            </a:r>
            <a:endParaRPr lang="en-US" sz="1200" dirty="0"/>
          </a:p>
        </p:txBody>
      </p:sp>
      <p:sp>
        <p:nvSpPr>
          <p:cNvPr id="51" name="Text 2">
            <a:extLst>
              <a:ext uri="{FF2B5EF4-FFF2-40B4-BE49-F238E27FC236}">
                <a16:creationId xmlns:a16="http://schemas.microsoft.com/office/drawing/2014/main" id="{122137A0-C262-C9AC-B924-C599C60CF062}"/>
              </a:ext>
            </a:extLst>
          </p:cNvPr>
          <p:cNvSpPr/>
          <p:nvPr/>
        </p:nvSpPr>
        <p:spPr>
          <a:xfrm>
            <a:off x="6378227" y="2062460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pt-BR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necessidade de suporte é mínima ou o problema é resolvido na primeira tentativa (</a:t>
            </a:r>
            <a:r>
              <a:rPr lang="pt-BR" sz="9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First</a:t>
            </a:r>
            <a:r>
              <a:rPr lang="pt-BR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Contact </a:t>
            </a:r>
            <a:r>
              <a:rPr lang="pt-BR" sz="950" dirty="0" err="1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Resolution</a:t>
            </a:r>
            <a:r>
              <a:rPr lang="pt-BR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). O NPS se mantém elevado e a experiência continua positiva.</a:t>
            </a: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</p:txBody>
      </p:sp>
      <p:pic>
        <p:nvPicPr>
          <p:cNvPr id="53" name="Image 2" descr="preencoded.png">
            <a:extLst>
              <a:ext uri="{FF2B5EF4-FFF2-40B4-BE49-F238E27FC236}">
                <a16:creationId xmlns:a16="http://schemas.microsoft.com/office/drawing/2014/main" id="{2E4D8F0D-5452-619A-3372-8F257769A4F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8227" y="2448421"/>
            <a:ext cx="5434373" cy="496094"/>
          </a:xfrm>
          <a:prstGeom prst="rect">
            <a:avLst/>
          </a:prstGeom>
        </p:spPr>
      </p:pic>
      <p:sp>
        <p:nvSpPr>
          <p:cNvPr id="55" name="Text 3">
            <a:extLst>
              <a:ext uri="{FF2B5EF4-FFF2-40B4-BE49-F238E27FC236}">
                <a16:creationId xmlns:a16="http://schemas.microsoft.com/office/drawing/2014/main" id="{F329BE84-D8CF-C525-F518-976F7E704CC6}"/>
              </a:ext>
            </a:extLst>
          </p:cNvPr>
          <p:cNvSpPr/>
          <p:nvPr/>
        </p:nvSpPr>
        <p:spPr>
          <a:xfrm>
            <a:off x="6378227" y="3037483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 </a:t>
            </a:r>
            <a:r>
              <a:rPr lang="en-US" sz="120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Contatos</a:t>
            </a:r>
            <a:endParaRPr lang="en-US" sz="12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301FBD7D-44A6-1E6B-E889-26F7661CE433}"/>
              </a:ext>
            </a:extLst>
          </p:cNvPr>
          <p:cNvSpPr/>
          <p:nvPr/>
        </p:nvSpPr>
        <p:spPr>
          <a:xfrm>
            <a:off x="6378227" y="3287018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17000"/>
              </a:lnSpc>
            </a:pPr>
            <a:r>
              <a:rPr lang="pt-BR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sinal de alerta acende. A obrigação de retornar ao SAC já demonstra fricção na jornada, gerando uma queda imediata na satisfação média.</a:t>
            </a: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</p:txBody>
      </p:sp>
      <p:pic>
        <p:nvPicPr>
          <p:cNvPr id="59" name="Image 3" descr="preencoded.png">
            <a:extLst>
              <a:ext uri="{FF2B5EF4-FFF2-40B4-BE49-F238E27FC236}">
                <a16:creationId xmlns:a16="http://schemas.microsoft.com/office/drawing/2014/main" id="{E0450C73-D686-55CF-700A-745A3217C0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8227" y="3750568"/>
            <a:ext cx="5434373" cy="496094"/>
          </a:xfrm>
          <a:prstGeom prst="rect">
            <a:avLst/>
          </a:prstGeom>
        </p:spPr>
      </p:pic>
      <p:sp>
        <p:nvSpPr>
          <p:cNvPr id="61" name="Text 5">
            <a:extLst>
              <a:ext uri="{FF2B5EF4-FFF2-40B4-BE49-F238E27FC236}">
                <a16:creationId xmlns:a16="http://schemas.microsoft.com/office/drawing/2014/main" id="{62863A8D-7069-6BB8-D9E8-1B4F812C4DA9}"/>
              </a:ext>
            </a:extLst>
          </p:cNvPr>
          <p:cNvSpPr/>
          <p:nvPr/>
        </p:nvSpPr>
        <p:spPr>
          <a:xfrm>
            <a:off x="6378227" y="4339630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 </a:t>
            </a:r>
            <a:r>
              <a:rPr lang="en-US" sz="120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Contatos</a:t>
            </a:r>
            <a:endParaRPr lang="en-US" sz="1200" dirty="0"/>
          </a:p>
        </p:txBody>
      </p:sp>
      <p:sp>
        <p:nvSpPr>
          <p:cNvPr id="63" name="Text 6">
            <a:extLst>
              <a:ext uri="{FF2B5EF4-FFF2-40B4-BE49-F238E27FC236}">
                <a16:creationId xmlns:a16="http://schemas.microsoft.com/office/drawing/2014/main" id="{0A2F6FAF-8729-5396-2FD8-E728542E951C}"/>
              </a:ext>
            </a:extLst>
          </p:cNvPr>
          <p:cNvSpPr/>
          <p:nvPr/>
        </p:nvSpPr>
        <p:spPr>
          <a:xfrm>
            <a:off x="6378227" y="4589165"/>
            <a:ext cx="5186332" cy="1736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17000"/>
              </a:lnSpc>
            </a:pPr>
            <a:r>
              <a:rPr lang="pt-BR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cliente migra para a zona de detratores. O desgaste emocional do retrabalho e a ineficiência no atendimento afetam diretamente a percepção de qualidade da marca.</a:t>
            </a:r>
            <a:r>
              <a:rPr lang="en-US" sz="95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</a:t>
            </a:r>
          </a:p>
        </p:txBody>
      </p:sp>
      <p:pic>
        <p:nvPicPr>
          <p:cNvPr id="65" name="Image 4" descr="preencoded.png">
            <a:extLst>
              <a:ext uri="{FF2B5EF4-FFF2-40B4-BE49-F238E27FC236}">
                <a16:creationId xmlns:a16="http://schemas.microsoft.com/office/drawing/2014/main" id="{2BE0E76B-BBC2-C862-D76B-441B7E3A6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227" y="5068193"/>
            <a:ext cx="5434373" cy="496094"/>
          </a:xfrm>
          <a:prstGeom prst="rect">
            <a:avLst/>
          </a:prstGeom>
        </p:spPr>
      </p:pic>
      <p:sp>
        <p:nvSpPr>
          <p:cNvPr id="67" name="Text 7">
            <a:extLst>
              <a:ext uri="{FF2B5EF4-FFF2-40B4-BE49-F238E27FC236}">
                <a16:creationId xmlns:a16="http://schemas.microsoft.com/office/drawing/2014/main" id="{73A1E479-7045-6BBA-D3FA-CE883F6B5FF2}"/>
              </a:ext>
            </a:extLst>
          </p:cNvPr>
          <p:cNvSpPr/>
          <p:nvPr/>
        </p:nvSpPr>
        <p:spPr>
          <a:xfrm>
            <a:off x="6378227" y="5657255"/>
            <a:ext cx="5186332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4+ </a:t>
            </a:r>
            <a:r>
              <a:rPr lang="en-US" sz="1200" dirty="0" err="1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Contatos</a:t>
            </a:r>
            <a:endParaRPr lang="en-US" sz="1200" dirty="0"/>
          </a:p>
        </p:txBody>
      </p:sp>
      <p:sp>
        <p:nvSpPr>
          <p:cNvPr id="69" name="Text 8">
            <a:extLst>
              <a:ext uri="{FF2B5EF4-FFF2-40B4-BE49-F238E27FC236}">
                <a16:creationId xmlns:a16="http://schemas.microsoft.com/office/drawing/2014/main" id="{25070C52-162C-0D98-B51C-4AD698DE010E}"/>
              </a:ext>
            </a:extLst>
          </p:cNvPr>
          <p:cNvSpPr/>
          <p:nvPr/>
        </p:nvSpPr>
        <p:spPr>
          <a:xfrm>
            <a:off x="6378227" y="5906790"/>
            <a:ext cx="5186332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r>
              <a:rPr lang="pt-BR" sz="1000" dirty="0"/>
              <a:t>Detrator garantido. A falha recorrente na resolução ou a extrema dificuldade de comunicação gera uma quebra de confiança irreversível na avaliação.</a:t>
            </a:r>
            <a:endParaRPr lang="en-US" sz="950" dirty="0"/>
          </a:p>
        </p:txBody>
      </p:sp>
    </p:spTree>
    <p:extLst>
      <p:ext uri="{BB962C8B-B14F-4D97-AF65-F5344CB8AC3E}">
        <p14:creationId xmlns:p14="http://schemas.microsoft.com/office/powerpoint/2010/main" val="1356985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96094"/>
            <a:ext cx="1086874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Mitos Descartados: Fatores sem impacto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21172"/>
            <a:ext cx="1086874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análise estatística eliminou hipóteses que poderiam desviar o foco das ações corretivas. O problema de satisfação é </a:t>
            </a:r>
            <a:r>
              <a:rPr lang="en-US" sz="10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puramente operacional</a:t>
            </a: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— não restrito a perfil financeiro ou barreira regional.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72700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Ticket Médio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4934645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Clientes com pedidos de alto valor </a:t>
            </a:r>
            <a:r>
              <a:rPr lang="en-US" sz="10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não são mais exigentes</a:t>
            </a: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na nota geral. A correlação entre ticket médio e NPS é estatisticamente nula — gastar mais não cria expectativas diferenciadas de satisfação.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63523" y="1727002"/>
            <a:ext cx="5273047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Geografia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523" y="4927898"/>
            <a:ext cx="527304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distribuição das notas é </a:t>
            </a:r>
            <a:r>
              <a:rPr lang="en-US" sz="10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estatisticamente semelhante em todas as regiões</a:t>
            </a: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do país. Não há uma região problemática isolada — o atrito é sistêmico e afeta toda a operação de forma uniforme.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1475" y="5713710"/>
            <a:ext cx="10868745" cy="648097"/>
          </a:xfrm>
          <a:prstGeom prst="roundRect">
            <a:avLst>
              <a:gd name="adj" fmla="val 3062"/>
            </a:avLst>
          </a:prstGeom>
          <a:solidFill>
            <a:srgbClr val="CCDC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870079"/>
            <a:ext cx="165294" cy="13225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91280" y="5852517"/>
            <a:ext cx="1030668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Implicação estratégica:</a:t>
            </a:r>
            <a:r>
              <a:rPr lang="en-US" sz="1000" dirty="0">
                <a:solidFill>
                  <a:srgbClr val="000000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 Não há necessidade de segmentar ações por valor de pedido ou região. A solução deve ser aplicada de forma universal, atacando os processos operacionais centrais.</a:t>
            </a:r>
            <a:endParaRPr lang="en-US" sz="1000" dirty="0"/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BB3ED531-9BC8-A87B-53C5-77D73B1F22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5847" y="2042961"/>
            <a:ext cx="4415614" cy="2884937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78366BA-668A-176A-709B-B2556CA2489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004" y="2147987"/>
            <a:ext cx="4028734" cy="26321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78D1E64A-6B9E-1F1C-2128-5B6A84509AEA}"/>
              </a:ext>
            </a:extLst>
          </p:cNvPr>
          <p:cNvSpPr/>
          <p:nvPr/>
        </p:nvSpPr>
        <p:spPr>
          <a:xfrm>
            <a:off x="661475" y="576659"/>
            <a:ext cx="10868745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Motor da Previsão: Nosso Modelo em Ação</a:t>
            </a:r>
            <a:endParaRPr lang="en-US" sz="285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4B94EF38-5DAC-4FCC-C8FB-9836EB4AF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74" y="1511052"/>
            <a:ext cx="5891795" cy="3835896"/>
          </a:xfrm>
          <a:prstGeom prst="rect">
            <a:avLst/>
          </a:prstGeom>
        </p:spPr>
      </p:pic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AD3BD35A-77B3-D131-2136-7543740501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42152" y="1375172"/>
            <a:ext cx="4694318" cy="1352848"/>
          </a:xfrm>
          <a:prstGeom prst="rect">
            <a:avLst/>
          </a:prstGeom>
        </p:spPr>
      </p:pic>
      <p:sp>
        <p:nvSpPr>
          <p:cNvPr id="9" name="Text 1">
            <a:extLst>
              <a:ext uri="{FF2B5EF4-FFF2-40B4-BE49-F238E27FC236}">
                <a16:creationId xmlns:a16="http://schemas.microsoft.com/office/drawing/2014/main" id="{EA773732-5F19-AB53-69E5-3D84D5CB1A9E}"/>
              </a:ext>
            </a:extLst>
          </p:cNvPr>
          <p:cNvSpPr/>
          <p:nvPr/>
        </p:nvSpPr>
        <p:spPr>
          <a:xfrm>
            <a:off x="7044355" y="1914227"/>
            <a:ext cx="219764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A25AB1FA-A25A-D5AF-9121-27743C751450}"/>
              </a:ext>
            </a:extLst>
          </p:cNvPr>
          <p:cNvSpPr/>
          <p:nvPr/>
        </p:nvSpPr>
        <p:spPr>
          <a:xfrm>
            <a:off x="7577047" y="1540669"/>
            <a:ext cx="379393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Ferramenta</a:t>
            </a:r>
            <a:endParaRPr lang="en-US" sz="1400" dirty="0"/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C96DA5E6-E7BE-2FB3-86F2-A14FA430BA55}"/>
              </a:ext>
            </a:extLst>
          </p:cNvPr>
          <p:cNvSpPr/>
          <p:nvPr/>
        </p:nvSpPr>
        <p:spPr>
          <a:xfrm>
            <a:off x="7577047" y="1899345"/>
            <a:ext cx="3793931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Criamos um modelo preditivo que analisa a jornada completa do cliente simultaneamente, substituindo o "achismo" por inteligência de dados estruturada.</a:t>
            </a:r>
            <a:endParaRPr lang="en-US" sz="1150" dirty="0"/>
          </a:p>
        </p:txBody>
      </p:sp>
      <p:pic>
        <p:nvPicPr>
          <p:cNvPr id="15" name="Image 2" descr="preencoded.png">
            <a:extLst>
              <a:ext uri="{FF2B5EF4-FFF2-40B4-BE49-F238E27FC236}">
                <a16:creationId xmlns:a16="http://schemas.microsoft.com/office/drawing/2014/main" id="{615CB05E-6FB2-1C0A-DF63-47A1FF5F7D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152" y="2857798"/>
            <a:ext cx="4694318" cy="1573907"/>
          </a:xfrm>
          <a:prstGeom prst="rect">
            <a:avLst/>
          </a:prstGeom>
        </p:spPr>
      </p:pic>
      <p:sp>
        <p:nvSpPr>
          <p:cNvPr id="17" name="Text 4">
            <a:extLst>
              <a:ext uri="{FF2B5EF4-FFF2-40B4-BE49-F238E27FC236}">
                <a16:creationId xmlns:a16="http://schemas.microsoft.com/office/drawing/2014/main" id="{CBBEBAD1-CCF1-6257-A3EC-8D88E4310378}"/>
              </a:ext>
            </a:extLst>
          </p:cNvPr>
          <p:cNvSpPr/>
          <p:nvPr/>
        </p:nvSpPr>
        <p:spPr>
          <a:xfrm>
            <a:off x="7044355" y="3507383"/>
            <a:ext cx="219764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2</a:t>
            </a:r>
            <a:endParaRPr lang="en-US" sz="1700" dirty="0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BC4F1728-5F1A-5F95-7F11-60BB0706FB5B}"/>
              </a:ext>
            </a:extLst>
          </p:cNvPr>
          <p:cNvSpPr/>
          <p:nvPr/>
        </p:nvSpPr>
        <p:spPr>
          <a:xfrm>
            <a:off x="7577047" y="3023295"/>
            <a:ext cx="379393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 Prova Visual</a:t>
            </a:r>
            <a:endParaRPr lang="en-US" sz="1400" dirty="0"/>
          </a:p>
        </p:txBody>
      </p:sp>
      <p:sp>
        <p:nvSpPr>
          <p:cNvPr id="21" name="Text 6">
            <a:extLst>
              <a:ext uri="{FF2B5EF4-FFF2-40B4-BE49-F238E27FC236}">
                <a16:creationId xmlns:a16="http://schemas.microsoft.com/office/drawing/2014/main" id="{5F9757F9-021B-747A-2A39-FD44DA974750}"/>
              </a:ext>
            </a:extLst>
          </p:cNvPr>
          <p:cNvSpPr/>
          <p:nvPr/>
        </p:nvSpPr>
        <p:spPr>
          <a:xfrm>
            <a:off x="7577047" y="3381970"/>
            <a:ext cx="3793931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 gráfico compara a nota real do cliente (NPS Real) com a nota calculada pelo algoritmo (NPS Previsto). A proximidade dos pontos com a linha de acerto perfeito comprova a precisão e confiabilidade da solução.</a:t>
            </a:r>
            <a:endParaRPr lang="en-US" sz="115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A9AE490E-8EE5-7021-D484-8A748A6C37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42152" y="4561483"/>
            <a:ext cx="4694318" cy="1573907"/>
          </a:xfrm>
          <a:prstGeom prst="rect">
            <a:avLst/>
          </a:prstGeom>
        </p:spPr>
      </p:pic>
      <p:sp>
        <p:nvSpPr>
          <p:cNvPr id="25" name="Text 7">
            <a:extLst>
              <a:ext uri="{FF2B5EF4-FFF2-40B4-BE49-F238E27FC236}">
                <a16:creationId xmlns:a16="http://schemas.microsoft.com/office/drawing/2014/main" id="{AEDA3C30-7CD1-CB49-AC28-F244F5706606}"/>
              </a:ext>
            </a:extLst>
          </p:cNvPr>
          <p:cNvSpPr/>
          <p:nvPr/>
        </p:nvSpPr>
        <p:spPr>
          <a:xfrm>
            <a:off x="7044355" y="5211068"/>
            <a:ext cx="219764" cy="2747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3</a:t>
            </a:r>
            <a:endParaRPr lang="en-US" sz="1700" dirty="0"/>
          </a:p>
        </p:txBody>
      </p:sp>
      <p:sp>
        <p:nvSpPr>
          <p:cNvPr id="27" name="Text 8">
            <a:extLst>
              <a:ext uri="{FF2B5EF4-FFF2-40B4-BE49-F238E27FC236}">
                <a16:creationId xmlns:a16="http://schemas.microsoft.com/office/drawing/2014/main" id="{CEDF2800-6F95-3254-B6DD-9AFB3807219C}"/>
              </a:ext>
            </a:extLst>
          </p:cNvPr>
          <p:cNvSpPr/>
          <p:nvPr/>
        </p:nvSpPr>
        <p:spPr>
          <a:xfrm>
            <a:off x="7577047" y="4726980"/>
            <a:ext cx="3793931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 Valor para o Negócio</a:t>
            </a:r>
            <a:endParaRPr lang="en-US" sz="1400" dirty="0"/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4304744D-EFAF-05A8-7248-6C4D59DEE54B}"/>
              </a:ext>
            </a:extLst>
          </p:cNvPr>
          <p:cNvSpPr/>
          <p:nvPr/>
        </p:nvSpPr>
        <p:spPr>
          <a:xfrm>
            <a:off x="7577047" y="5085655"/>
            <a:ext cx="3793931" cy="884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Mudamos o jogo de </a:t>
            </a:r>
            <a:r>
              <a:rPr lang="en-US" sz="1150" b="1" dirty="0">
                <a:solidFill>
                  <a:srgbClr val="E0D6DE"/>
                </a:solidFill>
                <a:latin typeface="Noto Sans Bold" pitchFamily="34" charset="0"/>
                <a:ea typeface="Noto Sans Bold" pitchFamily="34" charset="-122"/>
                <a:cs typeface="Noto Sans Bold" pitchFamily="34" charset="-120"/>
              </a:rPr>
              <a:t>reativo para preditivo</a:t>
            </a:r>
            <a:r>
              <a:rPr lang="en-US" sz="11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. O modelo identifica quem será um detrator antes da pesquisa ser enviada, permitindo que o atendimento aja a tempo de reverter a insatisfação.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37196143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456803"/>
            <a:ext cx="10868745" cy="381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Conclusões e Próximos Passos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61475" y="1018679"/>
            <a:ext cx="10868745" cy="3395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Com os ofensores mapeados e o modelo preditivo validado, o caminho para recuperar o NPS está claro. As três frentes de ação abaixo atacam o problema em ordem de impacto e viabilidade operacional.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661475" y="1459607"/>
            <a:ext cx="3562856" cy="1624310"/>
          </a:xfrm>
          <a:prstGeom prst="roundRect">
            <a:avLst>
              <a:gd name="adj" fmla="val 1128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83511" y="1581646"/>
            <a:ext cx="366306" cy="366316"/>
          </a:xfrm>
          <a:prstGeom prst="ellipse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4215" y="1682353"/>
            <a:ext cx="164798" cy="1648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83511" y="2038052"/>
            <a:ext cx="331878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Foco </a:t>
            </a:r>
            <a:r>
              <a:rPr lang="en-US" sz="1200" dirty="0" err="1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na</a:t>
            </a: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 </a:t>
            </a:r>
            <a:r>
              <a:rPr lang="en-US" sz="1200" dirty="0" err="1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Logística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3511" y="2282825"/>
            <a:ext cx="3318784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processos de entrega com prioridade máxima. O atraso é o vilão número um do NPS — cada dia de melhoria no prazo médio gera retorno direto e mensurável na satisfação do cliente.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314419" y="1459607"/>
            <a:ext cx="3562856" cy="1624310"/>
          </a:xfrm>
          <a:prstGeom prst="roundRect">
            <a:avLst>
              <a:gd name="adj" fmla="val 1128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7"/>
          <p:cNvSpPr/>
          <p:nvPr/>
        </p:nvSpPr>
        <p:spPr>
          <a:xfrm>
            <a:off x="4436455" y="1581646"/>
            <a:ext cx="366306" cy="366316"/>
          </a:xfrm>
          <a:prstGeom prst="ellipse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7160" y="1682353"/>
            <a:ext cx="164798" cy="1648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436455" y="2038052"/>
            <a:ext cx="331878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Atendimento Proativo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436455" y="2282825"/>
            <a:ext cx="3318784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Implementar réguas de comunicação automática para avisar o cliente sobre atrasos antes que ele precise reclamar. Antecipar o problema reduz o volume de contatos no SAC e preserva a nota.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7967364" y="1459607"/>
            <a:ext cx="3562856" cy="1624310"/>
          </a:xfrm>
          <a:prstGeom prst="roundRect">
            <a:avLst>
              <a:gd name="adj" fmla="val 1128"/>
            </a:avLst>
          </a:prstGeom>
          <a:solidFill>
            <a:srgbClr val="4C72B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1"/>
          <p:cNvSpPr/>
          <p:nvPr/>
        </p:nvSpPr>
        <p:spPr>
          <a:xfrm>
            <a:off x="8089400" y="1581646"/>
            <a:ext cx="366306" cy="366316"/>
          </a:xfrm>
          <a:prstGeom prst="ellipse">
            <a:avLst/>
          </a:prstGeom>
          <a:solidFill>
            <a:srgbClr val="B380FF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190104" y="1682353"/>
            <a:ext cx="164798" cy="1648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089400" y="2038052"/>
            <a:ext cx="3318784" cy="190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Teste A/B de Retenção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8089400" y="2282825"/>
            <a:ext cx="3318784" cy="679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ações de desconto ou estorno automático para clientes com previsão de atraso, medindo o ROI e a recuperação real do NPS antes de escalar a operação para toda a base.</a:t>
            </a:r>
            <a:endParaRPr lang="en-US" sz="95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0043" y="3185319"/>
            <a:ext cx="8151509" cy="321587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288097" y="4299070"/>
            <a:ext cx="1621600" cy="22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Última Milha</a:t>
            </a:r>
            <a:endParaRPr lang="en-US" sz="1350" dirty="0"/>
          </a:p>
        </p:txBody>
      </p:sp>
      <p:sp>
        <p:nvSpPr>
          <p:cNvPr id="21" name="Text 15"/>
          <p:cNvSpPr/>
          <p:nvPr/>
        </p:nvSpPr>
        <p:spPr>
          <a:xfrm>
            <a:off x="3288097" y="4582459"/>
            <a:ext cx="1621600" cy="30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Revisar logística e reduzir atrasos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304127" y="4476555"/>
            <a:ext cx="1621600" cy="4412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Atendimento Proativo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5304127" y="4980576"/>
            <a:ext cx="1621600" cy="30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Comunicação antecipada ao cliente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343691" y="4299070"/>
            <a:ext cx="1621599" cy="220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Teste A/B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7343691" y="4582459"/>
            <a:ext cx="1621599" cy="3066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1000"/>
              </a:lnSpc>
              <a:buNone/>
            </a:pPr>
            <a:r>
              <a:rPr lang="en-US" sz="110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Validar retenção e medir ROI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99605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 err="1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Obrigado</a:t>
            </a:r>
            <a:r>
              <a:rPr lang="en-US" sz="32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!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2364383"/>
            <a:ext cx="10868745" cy="713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4450" dirty="0"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Dados em ação.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356682" y="3325614"/>
            <a:ext cx="1147833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300" dirty="0">
                <a:latin typeface="Noto Sans" pitchFamily="34" charset="0"/>
                <a:ea typeface="Noto Sans" pitchFamily="34" charset="-122"/>
                <a:cs typeface="Noto Sans" pitchFamily="34" charset="-120"/>
              </a:rPr>
              <a:t>Prontos para transformar dados em ação e recuperar a satisfação dos nossos clientes.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475" y="3776266"/>
            <a:ext cx="10868745" cy="1482130"/>
          </a:xfrm>
          <a:prstGeom prst="roundRect">
            <a:avLst>
              <a:gd name="adj" fmla="val 1674"/>
            </a:avLst>
          </a:prstGeom>
          <a:solidFill>
            <a:srgbClr val="26262B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61475" y="3776266"/>
            <a:ext cx="3622882" cy="1482130"/>
          </a:xfrm>
          <a:custGeom>
            <a:avLst/>
            <a:gdLst/>
            <a:ahLst/>
            <a:cxnLst/>
            <a:rect l="l" t="t" r="r" b="b"/>
            <a:pathLst>
              <a:path w="3622882" h="1482130">
                <a:moveTo>
                  <a:pt x="20674" y="0"/>
                </a:moveTo>
                <a:lnTo>
                  <a:pt x="3622882" y="0"/>
                </a:lnTo>
                <a:lnTo>
                  <a:pt x="3622882" y="1482130"/>
                </a:lnTo>
                <a:lnTo>
                  <a:pt x="20674" y="1482130"/>
                </a:lnTo>
                <a:arcTo wR="20674" hR="20674" stAng="5400000" swAng="5400000"/>
                <a:lnTo>
                  <a:pt x="0" y="20674"/>
                </a:lnTo>
                <a:arcTo wR="20674" hR="20674" stAng="10800000" swAng="5400000"/>
                <a:close/>
              </a:path>
            </a:pathLst>
          </a:custGeom>
          <a:solidFill>
            <a:srgbClr val="4C72B0"/>
          </a:solidFill>
          <a:ln/>
        </p:spPr>
        <p:txBody>
          <a:bodyPr/>
          <a:lstStyle/>
          <a:p>
            <a:endParaRPr lang="pt-BR" dirty="0">
              <a:highlight>
                <a:srgbClr val="4C72B0"/>
              </a:highlight>
            </a:endParaRPr>
          </a:p>
        </p:txBody>
      </p:sp>
      <p:sp>
        <p:nvSpPr>
          <p:cNvPr id="7" name="Text 5"/>
          <p:cNvSpPr/>
          <p:nvPr/>
        </p:nvSpPr>
        <p:spPr>
          <a:xfrm>
            <a:off x="826769" y="394156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Diagnóstico Concluído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6769" y="4299248"/>
            <a:ext cx="329229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Ofensores mapeados com precisão estatística e hierarquia de impacto definida.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284357" y="3776266"/>
            <a:ext cx="3622882" cy="1482130"/>
          </a:xfrm>
          <a:prstGeom prst="rect">
            <a:avLst/>
          </a:prstGeom>
          <a:solidFill>
            <a:srgbClr val="4C72B0"/>
          </a:solidFill>
          <a:ln/>
        </p:spPr>
        <p:txBody>
          <a:bodyPr/>
          <a:lstStyle/>
          <a:p>
            <a:endParaRPr lang="pt-BR">
              <a:highlight>
                <a:srgbClr val="4C72B0"/>
              </a:highlight>
            </a:endParaRPr>
          </a:p>
        </p:txBody>
      </p:sp>
      <p:sp>
        <p:nvSpPr>
          <p:cNvPr id="10" name="Shape 8"/>
          <p:cNvSpPr/>
          <p:nvPr/>
        </p:nvSpPr>
        <p:spPr>
          <a:xfrm>
            <a:off x="4284357" y="3776266"/>
            <a:ext cx="19050" cy="148213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449651" y="394156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Modelo Validado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49651" y="4299248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Solução preditiva pronta para identificar detratores antes da pesquisa ser enviada.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907239" y="3776266"/>
            <a:ext cx="3622882" cy="1482130"/>
          </a:xfrm>
          <a:custGeom>
            <a:avLst/>
            <a:gdLst/>
            <a:ahLst/>
            <a:cxnLst/>
            <a:rect l="l" t="t" r="r" b="b"/>
            <a:pathLst>
              <a:path w="3622882" h="1482130">
                <a:moveTo>
                  <a:pt x="0" y="0"/>
                </a:moveTo>
                <a:lnTo>
                  <a:pt x="3602208" y="0"/>
                </a:lnTo>
                <a:arcTo wR="20674" hR="20674" stAng="16200000" swAng="5400000"/>
                <a:lnTo>
                  <a:pt x="3622882" y="1461455"/>
                </a:lnTo>
                <a:arcTo wR="20674" hR="20674" stAng="0" swAng="5400000"/>
                <a:lnTo>
                  <a:pt x="0" y="1482130"/>
                </a:lnTo>
                <a:lnTo>
                  <a:pt x="0" y="0"/>
                </a:lnTo>
                <a:close/>
              </a:path>
            </a:pathLst>
          </a:custGeom>
          <a:solidFill>
            <a:srgbClr val="4C72B0"/>
          </a:solidFill>
          <a:ln/>
        </p:spPr>
        <p:txBody>
          <a:bodyPr/>
          <a:lstStyle/>
          <a:p>
            <a:endParaRPr lang="pt-BR">
              <a:highlight>
                <a:srgbClr val="4C72B0"/>
              </a:highlight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907239" y="3776266"/>
            <a:ext cx="19050" cy="1482130"/>
          </a:xfrm>
          <a:prstGeom prst="roundRect">
            <a:avLst>
              <a:gd name="adj" fmla="val 49999"/>
            </a:avLst>
          </a:prstGeom>
          <a:solidFill>
            <a:srgbClr val="3F3F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8072533" y="3941564"/>
            <a:ext cx="329229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E0D6DE"/>
                </a:solidFill>
                <a:latin typeface="Sora Medium" pitchFamily="34" charset="0"/>
                <a:ea typeface="Sora Medium" pitchFamily="34" charset="-122"/>
                <a:cs typeface="Sora Medium" pitchFamily="34" charset="-120"/>
              </a:rPr>
              <a:t>Ação Imediata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072533" y="4299248"/>
            <a:ext cx="3292293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E0D6DE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Três frentes prioritárias definidas para recuperação do NPS com ROI mensurável.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1183</Words>
  <Application>Microsoft Office PowerPoint</Application>
  <PresentationFormat>Widescreen</PresentationFormat>
  <Paragraphs>110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Noto Sans</vt:lpstr>
      <vt:lpstr>Noto Sans Bold</vt:lpstr>
      <vt:lpstr>Sora Medium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Fábio Moyses</dc:creator>
  <cp:lastModifiedBy>Fabio Antonio Moysés de Souza</cp:lastModifiedBy>
  <cp:revision>5</cp:revision>
  <dcterms:created xsi:type="dcterms:W3CDTF">2026-08-25T00:18:51Z</dcterms:created>
  <dcterms:modified xsi:type="dcterms:W3CDTF">2026-08-30T12:51:02Z</dcterms:modified>
</cp:coreProperties>
</file>